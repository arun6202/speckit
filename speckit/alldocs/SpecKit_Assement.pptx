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0584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82136"/>
                </a:solidFill>
              </a:rPr>
              <a:t>SpecKit in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182136"/>
                </a:solidFill>
              </a:rPr>
              <a:t>Enterprise Context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30936" y="25420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Honest evaluation for C-level review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52360" y="1207008"/>
            <a:ext cx="3154680" cy="9601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25512" y="1280160"/>
            <a:ext cx="30083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Code is cheap.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Intent is expensive.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389120"/>
            <a:ext cx="2926080" cy="502920"/>
          </a:xfrm>
          <a:prstGeom prst="roundRect">
            <a:avLst>
              <a:gd name="adj" fmla="val 9091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462272"/>
            <a:ext cx="2779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Strategic &amp; Economic Assessment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4760" y="4389120"/>
            <a:ext cx="4206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4462272"/>
            <a:ext cx="4059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136"/>
                </a:solidFill>
              </a:rPr>
              <a:t>CTO / VPE / Lead Architect / Tech Lead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61120" y="4206240"/>
            <a:ext cx="2377440" cy="2103120"/>
          </a:xfrm>
          <a:prstGeom prst="arc">
            <a:avLst/>
          </a:prstGeom>
          <a:solidFill>
            <a:srgbClr val="F7F8FB">
              <a:alpha val="0"/>
            </a:srgbClr>
          </a:solidFill>
          <a:ln w="381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What SpecKit 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Formalizes intent before AI generates code.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01952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Constitution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82880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1901952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Spec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66360" y="182880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9512" y="1901952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182880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1901952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Tasks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46920" y="182880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0072" y="1901952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1947672"/>
            <a:ext cx="502920" cy="228600"/>
          </a:xfrm>
          <a:prstGeom prst="rightArrow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947672"/>
            <a:ext cx="502920" cy="228600"/>
          </a:xfrm>
          <a:prstGeom prst="rightArrow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1947672"/>
            <a:ext cx="502920" cy="228600"/>
          </a:xfrm>
          <a:prstGeom prst="rightArrow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1947672"/>
            <a:ext cx="502920" cy="228600"/>
          </a:xfrm>
          <a:prstGeom prst="rightArrow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108960"/>
            <a:ext cx="457200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108960"/>
            <a:ext cx="7315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32369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Constitution.md defines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3584448"/>
            <a:ext cx="424281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Rules · Standards · Architecture · Contracts · Non-functional constraints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035040" y="3108960"/>
            <a:ext cx="475488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108960"/>
            <a:ext cx="73152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323697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36208" y="3584448"/>
            <a:ext cx="44256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It creates a stable behavioral anchor for AI systems before code is generated.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3063240" y="4892040"/>
            <a:ext cx="6126480" cy="658368"/>
          </a:xfrm>
          <a:prstGeom prst="roundRect">
            <a:avLst>
              <a:gd name="adj" fmla="val 6944"/>
            </a:avLst>
          </a:prstGeom>
          <a:solidFill>
            <a:srgbClr val="182136"/>
          </a:solidFill>
          <a:ln w="12700">
            <a:solidFill>
              <a:srgbClr val="1821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6392" y="4965192"/>
            <a:ext cx="5980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Core idea: Intent is the scarce asset.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Language Fit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Strongest in typed, structured environments.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143000" cy="438912"/>
          </a:xfrm>
          <a:prstGeom prst="roundRect">
            <a:avLst>
              <a:gd name="adj" fmla="val 104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9047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C#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353312"/>
            <a:ext cx="411480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353312"/>
            <a:ext cx="73152" cy="566928"/>
          </a:xfrm>
          <a:prstGeom prst="rect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0008" y="148132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50008" y="1828800"/>
            <a:ext cx="3785616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APIs / orchestration / business logic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2960" y="2194560"/>
            <a:ext cx="1143000" cy="438912"/>
          </a:xfrm>
          <a:prstGeom prst="roundRect">
            <a:avLst>
              <a:gd name="adj" fmla="val 104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26771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F#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48840" y="2130552"/>
            <a:ext cx="411480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2130552"/>
            <a:ext cx="73152" cy="566928"/>
          </a:xfrm>
          <a:prstGeom prst="rect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225856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50008" y="2606040"/>
            <a:ext cx="3785616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Domain logic / functional model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22960" y="2971800"/>
            <a:ext cx="1143000" cy="438912"/>
          </a:xfrm>
          <a:prstGeom prst="roundRect">
            <a:avLst>
              <a:gd name="adj" fmla="val 104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04495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2907792"/>
            <a:ext cx="411480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48840" y="2907792"/>
            <a:ext cx="73152" cy="566928"/>
          </a:xfrm>
          <a:prstGeom prst="rect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303580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50008" y="3383280"/>
            <a:ext cx="3785616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Data / ML / transformations / utilities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22960" y="3749040"/>
            <a:ext cx="1143000" cy="438912"/>
          </a:xfrm>
          <a:prstGeom prst="roundRect">
            <a:avLst>
              <a:gd name="adj" fmla="val 104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82219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48840" y="3685032"/>
            <a:ext cx="4114800" cy="56692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48840" y="3685032"/>
            <a:ext cx="73152" cy="566928"/>
          </a:xfrm>
          <a:prstGeom prst="rect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0008" y="381304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50008" y="4160520"/>
            <a:ext cx="3785616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Persistence / stored procedures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903720" y="12618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Fit vs. Friction Diagnostic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0" y="4709160"/>
            <a:ext cx="34747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1828800"/>
            <a:ext cx="0" cy="28803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49011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High structural typing →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 rot="16200000">
            <a:off x="6583680" y="1691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High AST alignment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0129723" y="2372868"/>
            <a:ext cx="164592" cy="164592"/>
          </a:xfrm>
          <a:prstGeom prst="ellipse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03459" y="238201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C#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030968" y="2187245"/>
            <a:ext cx="164592" cy="164592"/>
          </a:xfrm>
          <a:prstGeom prst="ellipse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04704" y="2196389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F#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537192" y="2903220"/>
            <a:ext cx="164592" cy="164592"/>
          </a:xfrm>
          <a:prstGeom prst="ellipse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10928" y="291236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SQL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154619" y="4043477"/>
            <a:ext cx="164592" cy="16459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8355" y="4052621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Python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554480" y="5715000"/>
            <a:ext cx="9052560" cy="45720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27632" y="5788152"/>
            <a:ext cx="8906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Value: no pattern mixing · no language drift · no duplicate logic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Where It Shines vs. Struggles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Creates clarity in greenfield; may create false clarity in brownfield.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4480560" cy="237744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17320"/>
            <a:ext cx="73152" cy="237744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545336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Greenfield / AI-native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892808"/>
            <a:ext cx="4151376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Clear ownership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Clean boundaries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Stable architecture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Predictable output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858000" y="1417320"/>
            <a:ext cx="4480560" cy="237744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417320"/>
            <a:ext cx="73152" cy="23774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9168" y="1545336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Brownfield Enterprise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9168" y="1892808"/>
            <a:ext cx="4151376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Legacy SQL rules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Implicit transformations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C# patches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Fragmented ownership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417320" y="434340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0472" y="4416552"/>
            <a:ext cx="32369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SpecKit creates clarity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434340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88352" y="4416552"/>
            <a:ext cx="35112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SpecKit may create false clarity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23560" y="2194560"/>
            <a:ext cx="777240" cy="685800"/>
          </a:xfrm>
          <a:prstGeom prst="chevron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30175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36"/>
                </a:solidFill>
              </a:rPr>
              <a:t>Context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2136"/>
                </a:solidFill>
              </a:rPr>
              <a:t>decides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Failure Modes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biggest risk is false clarity that looks authoritative.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600200" cy="640080"/>
          </a:xfrm>
          <a:prstGeom prst="roundRect">
            <a:avLst>
              <a:gd name="adj" fmla="val 7143"/>
            </a:avLst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44752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 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Spec accurate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80360" y="1371600"/>
            <a:ext cx="1600200" cy="640080"/>
          </a:xfrm>
          <a:prstGeom prst="roundRect">
            <a:avLst>
              <a:gd name="adj" fmla="val 714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53512" y="1444752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Week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SQL changes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1371600"/>
            <a:ext cx="1600200" cy="640080"/>
          </a:xfrm>
          <a:prstGeom prst="roundRect">
            <a:avLst>
              <a:gd name="adj" fmla="val 714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3792" y="1444752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Week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Python changes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60920" y="1371600"/>
            <a:ext cx="1600200" cy="640080"/>
          </a:xfrm>
          <a:prstGeom prst="roundRect">
            <a:avLst>
              <a:gd name="adj" fmla="val 714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34072" y="1444752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Week 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C# changes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0" y="1371600"/>
            <a:ext cx="1600200" cy="640080"/>
          </a:xfrm>
          <a:prstGeom prst="roundRect">
            <a:avLst>
              <a:gd name="adj" fmla="val 7143"/>
            </a:avLst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4352" y="1444752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Spec drifts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from reality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13432" y="1591056"/>
            <a:ext cx="411480" cy="201168"/>
          </a:xfrm>
          <a:prstGeom prst="rightArrow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591056"/>
            <a:ext cx="411480" cy="201168"/>
          </a:xfrm>
          <a:prstGeom prst="rightArrow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3992" y="1591056"/>
            <a:ext cx="411480" cy="201168"/>
          </a:xfrm>
          <a:prstGeom prst="rightArrow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34272" y="1591056"/>
            <a:ext cx="411480" cy="201168"/>
          </a:xfrm>
          <a:prstGeom prst="rightArrow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743200"/>
            <a:ext cx="356616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2798064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Failure mode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4297680" y="2743200"/>
            <a:ext cx="356616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2544" y="2798064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Mechanism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7863840" y="2743200"/>
            <a:ext cx="3566160" cy="475488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18704" y="2798064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Result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731520" y="3218688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327355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AI guesses from fragments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4297680" y="3218688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2544" y="327355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No current anchor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7863840" y="3218688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18704" y="327355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Plausible but wrong output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731520" y="3694176"/>
            <a:ext cx="3566160" cy="475488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374904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Specs become stale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4297680" y="3694176"/>
            <a:ext cx="3566160" cy="475488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374904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No update enforcement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7863840" y="3694176"/>
            <a:ext cx="3566160" cy="475488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18704" y="374904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Silent drift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731520" y="4169664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422452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No cross-layer owner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4297680" y="4169664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52544" y="422452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Layer ownership only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7863840" y="4169664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18704" y="422452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Fragmented truth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731520" y="4645152"/>
            <a:ext cx="3566160" cy="475488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" y="4700016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Local view becomes official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4297680" y="4645152"/>
            <a:ext cx="3566160" cy="475488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52544" y="4700016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Loudest team wins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7863840" y="4645152"/>
            <a:ext cx="3566160" cy="475488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18704" y="4700016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Architectural distortion</a:t>
            </a:r>
            <a:endParaRPr lang="en-US" sz="770" dirty="0"/>
          </a:p>
        </p:txBody>
      </p:sp>
      <p:sp>
        <p:nvSpPr>
          <p:cNvPr id="49" name="Shape 47"/>
          <p:cNvSpPr/>
          <p:nvPr/>
        </p:nvSpPr>
        <p:spPr>
          <a:xfrm>
            <a:off x="2286000" y="5577840"/>
            <a:ext cx="7589520" cy="411480"/>
          </a:xfrm>
          <a:prstGeom prst="roundRect">
            <a:avLst>
              <a:gd name="adj" fmla="val 11111"/>
            </a:avLst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59152" y="5650992"/>
            <a:ext cx="7443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stale spec can be more dangerous than no spec.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Enterprise Reality Timeline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Spec accuracy decays from Day 0 unless enforcement exists.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434840"/>
            <a:ext cx="475488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83664"/>
            <a:ext cx="950976" cy="561259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65376" y="2444923"/>
            <a:ext cx="950976" cy="586770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16352" y="3031693"/>
            <a:ext cx="950976" cy="637794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67328" y="3669487"/>
            <a:ext cx="950976" cy="306141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18304" y="3975628"/>
            <a:ext cx="950976" cy="204094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50799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D0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609344" y="450799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W2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560320" y="450799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W4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511296" y="450799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W8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462272" y="450799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W12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413248" y="450799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W16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91440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Spec accuracy vs. reality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1463040"/>
            <a:ext cx="4389120" cy="16459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463040"/>
            <a:ext cx="73152" cy="1645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15910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Drift events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01968" y="1938528"/>
            <a:ext cx="405993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SQL change → Python change → C# change → NFR shift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Without enforcement, each change moves the spec away from reality.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309360" y="3703320"/>
            <a:ext cx="4572000" cy="566928"/>
          </a:xfrm>
          <a:prstGeom prst="roundRect">
            <a:avLst>
              <a:gd name="adj" fmla="val 8065"/>
            </a:avLst>
          </a:prstGeom>
          <a:solidFill>
            <a:srgbClr val="182136"/>
          </a:solidFill>
          <a:ln w="12700">
            <a:solidFill>
              <a:srgbClr val="1821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776472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Recurring to Day 0 = full re-authoring cost, indefinitely.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4617720"/>
            <a:ext cx="4389120" cy="868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617720"/>
            <a:ext cx="73152" cy="8686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47457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Result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01968" y="5093208"/>
            <a:ext cx="4059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The document becomes a polished artifact of yesterday’s truth.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Verdict and Recommendation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SpecKit preserves clarity. It does not discover truth.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1828800" cy="493776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28930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Component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2560320" y="1234440"/>
            <a:ext cx="1828800" cy="493776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184" y="128930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Greenfield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1828800" cy="493776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1289304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Brownfield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731520" y="1728216"/>
            <a:ext cx="1828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830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Constitution.md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2560320" y="1728216"/>
            <a:ext cx="1828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7830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Yes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389120" y="1728216"/>
            <a:ext cx="1828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17830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Yes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731520" y="2221992"/>
            <a:ext cx="1828800" cy="493776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2768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AI behavioral anchoring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560320" y="2221992"/>
            <a:ext cx="1828800" cy="493776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5184" y="22768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Yes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4389120" y="2221992"/>
            <a:ext cx="1828800" cy="493776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22768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Yes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731520" y="2715768"/>
            <a:ext cx="1828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27706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Feature specs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2560320" y="2715768"/>
            <a:ext cx="1828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15184" y="27706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Yes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4389120" y="2715768"/>
            <a:ext cx="1828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43984" y="277063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Selective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731520" y="3209544"/>
            <a:ext cx="1828800" cy="493776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326440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Full brownfield coverage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2560320" y="3209544"/>
            <a:ext cx="1828800" cy="493776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5184" y="326440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Yes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4389120" y="3209544"/>
            <a:ext cx="1828800" cy="493776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43984" y="326440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No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6720840" y="1234440"/>
            <a:ext cx="4480560" cy="155448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1234440"/>
            <a:ext cx="7315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2008" y="1362456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Recommendation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22008" y="1709928"/>
            <a:ext cx="415137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Use Constitution.md. Use feature specs for new work. Avoid treating generated brownfield specs as authoritative without validation.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720840" y="3246120"/>
            <a:ext cx="4480560" cy="155448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20840" y="3246120"/>
            <a:ext cx="73152" cy="15544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22008" y="3374136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Do not use as replacement for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22008" y="3721608"/>
            <a:ext cx="415137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Legacy discovery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Database rule analysis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Cross-team accountability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Architecture governance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2834640" y="5257800"/>
            <a:ext cx="6126480" cy="640080"/>
          </a:xfrm>
          <a:prstGeom prst="roundRect">
            <a:avLst>
              <a:gd name="adj" fmla="val 7143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07792" y="5330952"/>
            <a:ext cx="5980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Adopt selectively, not universally.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Token Economics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Token bill is visible. Governance cost is the real blocker.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3703320"/>
            <a:ext cx="45720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4331" y="2122170"/>
            <a:ext cx="588818" cy="158115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2891" y="1866138"/>
            <a:ext cx="7716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150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731" y="3776472"/>
            <a:ext cx="1046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Developer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2197331" y="2649220"/>
            <a:ext cx="588818" cy="10541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5891" y="2393188"/>
            <a:ext cx="7716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100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68731" y="3776472"/>
            <a:ext cx="1046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Tech Lead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340331" y="3070860"/>
            <a:ext cx="588818" cy="632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8891" y="2814828"/>
            <a:ext cx="7716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60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11731" y="3776472"/>
            <a:ext cx="1046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Architect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4483331" y="3492500"/>
            <a:ext cx="588818" cy="2108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91891" y="3236468"/>
            <a:ext cx="7716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20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54731" y="3776472"/>
            <a:ext cx="1046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PO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777240" y="1051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36"/>
                </a:solidFill>
              </a:rPr>
              <a:t>Daily token usage by role (k)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703320"/>
            <a:ext cx="45720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9331" y="1995678"/>
            <a:ext cx="588818" cy="170764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7891" y="1739646"/>
            <a:ext cx="7716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36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40731" y="3776472"/>
            <a:ext cx="1046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Developer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7912331" y="2564892"/>
            <a:ext cx="588818" cy="11384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20891" y="2308860"/>
            <a:ext cx="7716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24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83731" y="3776472"/>
            <a:ext cx="1046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Tech Lead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9055331" y="3039237"/>
            <a:ext cx="588818" cy="664083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3891" y="2783205"/>
            <a:ext cx="7716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14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26731" y="3776472"/>
            <a:ext cx="1046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Architect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10198331" y="3466148"/>
            <a:ext cx="588818" cy="2371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06891" y="3210116"/>
            <a:ext cx="7716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969731" y="3776472"/>
            <a:ext cx="1046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PO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6492240" y="1051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36"/>
                </a:solidFill>
              </a:rPr>
              <a:t>Annual volume by role (M)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43000" y="4297680"/>
            <a:ext cx="2194560" cy="320040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97864" y="435254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Team size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3337560" y="4297680"/>
            <a:ext cx="2194560" cy="320040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92424" y="435254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Annual API cost range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1143000" y="461772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97864" y="467258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10-person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3337560" y="461772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92424" y="467258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Low thousands / year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1143000" y="4937760"/>
            <a:ext cx="2194560" cy="32004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97864" y="499262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50-person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3337560" y="4937760"/>
            <a:ext cx="2194560" cy="32004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92424" y="499262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Tens of thousands / year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1143000" y="525780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97864" y="531266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100-person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3337560" y="5257800"/>
            <a:ext cx="21945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92424" y="531266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Tens to low hundreds of thousands / year</a:t>
            </a:r>
            <a:endParaRPr lang="en-US" sz="770" dirty="0"/>
          </a:p>
        </p:txBody>
      </p:sp>
      <p:sp>
        <p:nvSpPr>
          <p:cNvPr id="49" name="Shape 47"/>
          <p:cNvSpPr/>
          <p:nvPr/>
        </p:nvSpPr>
        <p:spPr>
          <a:xfrm>
            <a:off x="6309360" y="4617720"/>
            <a:ext cx="4389120" cy="603504"/>
          </a:xfrm>
          <a:prstGeom prst="roundRect">
            <a:avLst>
              <a:gd name="adj" fmla="val 7576"/>
            </a:avLst>
          </a:prstGeom>
          <a:solidFill>
            <a:srgbClr val="182136"/>
          </a:solidFill>
          <a:ln w="12700">
            <a:solidFill>
              <a:srgbClr val="18213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4690872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generation is cheap. Trusted specification is expensive.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True TCO: The Hidden Cost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API cost is the visible 5%. Human governance is the invisible 95%.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4251960"/>
            <a:ext cx="530352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0084" y="4134322"/>
            <a:ext cx="455353" cy="11763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8644" y="3878290"/>
            <a:ext cx="6382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84004" y="2193303"/>
            <a:ext cx="455353" cy="2058657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2564" y="1937271"/>
            <a:ext cx="6382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35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67924" y="3369678"/>
            <a:ext cx="455353" cy="88228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6484" y="3113646"/>
            <a:ext cx="6382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15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51844" y="3075584"/>
            <a:ext cx="455353" cy="1176376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0404" y="2819552"/>
            <a:ext cx="6382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20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35764" y="3193222"/>
            <a:ext cx="455353" cy="105873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4324" y="2937190"/>
            <a:ext cx="6382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18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19684" y="3663772"/>
            <a:ext cx="455353" cy="58818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28244" y="3407740"/>
            <a:ext cx="6382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10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10424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36"/>
                </a:solidFill>
              </a:rPr>
              <a:t>10k-line codebase: relative cost index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1143000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121615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Visible 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 token bill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920240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199339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Senior review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697480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277063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Correction &amp; ownership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3474720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354787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Maintenance &amp; staleness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75120" y="4251960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432511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Cross-team alignment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5577840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5650992"/>
            <a:ext cx="5705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 verdict: governance cost is the blocker.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Vendor Lock-In Assessment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Risk is workflow-level for SpecKit; deeper for autonomous agents.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46304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28930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Tool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2148840" y="1234440"/>
            <a:ext cx="146304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03704" y="128930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Lock-in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3611880" y="1234440"/>
            <a:ext cx="146304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128930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Autonomy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5074920" y="1234440"/>
            <a:ext cx="1463040" cy="411480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9784" y="128930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Brownfield fit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685800" y="164592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170078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SpecKit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2148840" y="164592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03704" y="170078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Workflow-level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3611880" y="164592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170078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Low-Medium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5074920" y="164592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9784" y="170078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Selective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685800" y="2057400"/>
            <a:ext cx="1463040" cy="41148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211226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Windsurf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2148840" y="2057400"/>
            <a:ext cx="1463040" cy="41148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03704" y="211226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Workflow-level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3611880" y="2057400"/>
            <a:ext cx="1463040" cy="41148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211226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Medium-High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5074920" y="2057400"/>
            <a:ext cx="1463040" cy="41148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9784" y="211226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Moderate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685800" y="246888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" y="252374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Devin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2148840" y="246888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03704" y="252374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Agent-level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3611880" y="246888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66744" y="252374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High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5074920" y="246888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9784" y="2523744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Low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6949440" y="1234440"/>
            <a:ext cx="4206240" cy="15087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9440" y="1234440"/>
            <a:ext cx="73152" cy="150876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0608" y="136245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Lock-in risks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50608" y="1709928"/>
            <a:ext cx="387705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Tool-specific slash commands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Agent configurations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Proprietary context formats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Vendor lineage consolidation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6949440" y="3246120"/>
            <a:ext cx="4206240" cy="15087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9440" y="3246120"/>
            <a:ext cx="73152" cy="150876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0608" y="337413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Mitigations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50608" y="3721608"/>
            <a:ext cx="387705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Plain Markdown in Git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Standard PR / CI workflows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Export-first context design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Tool-agnostic spec language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1920240" y="557784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93392" y="5650992"/>
            <a:ext cx="7900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Markdown reduces data lock-in. Workflows create process lock-in.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Sovereign AI: Local Development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Pure API dependency can fail at scale; hybrid local hardware changes economics.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2606040" cy="402336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289304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Use case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06040" cy="402336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46704" y="1289304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Local adequacy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685800" y="1636776"/>
            <a:ext cx="2606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69164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Simple spec generation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3291840" y="1636776"/>
            <a:ext cx="2606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69164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Adequate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685800" y="2039112"/>
            <a:ext cx="2606040" cy="402336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09397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Complex architectural specs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3291840" y="2039112"/>
            <a:ext cx="2606040" cy="402336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209397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Adequate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685800" y="2441448"/>
            <a:ext cx="2606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49631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Constitution review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3291840" y="2441448"/>
            <a:ext cx="2606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6704" y="249631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Marginal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685800" y="2843784"/>
            <a:ext cx="2606040" cy="402336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289864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Cross-layer analysis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3291840" y="2843784"/>
            <a:ext cx="2606040" cy="402336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289864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Frontier API still better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6492240" y="3703320"/>
            <a:ext cx="420624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3624189"/>
            <a:ext cx="701040" cy="-158262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93280" y="3465928"/>
            <a:ext cx="701040" cy="-237392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94320" y="3228535"/>
            <a:ext cx="701040" cy="-237392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0" y="2991143"/>
            <a:ext cx="701040" cy="-237392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96400" y="2753751"/>
            <a:ext cx="701040" cy="-474785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97440" y="2278966"/>
            <a:ext cx="701040" cy="-553915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3703320"/>
            <a:ext cx="420624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038622"/>
            <a:ext cx="701040" cy="-126609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93280" y="2912012"/>
            <a:ext cx="701040" cy="-94957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94320" y="2817055"/>
            <a:ext cx="701040" cy="-63305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95360" y="2753751"/>
            <a:ext cx="701040" cy="-47478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6400" y="2706272"/>
            <a:ext cx="701040" cy="-63305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97440" y="2642968"/>
            <a:ext cx="701040" cy="-47478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10424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36"/>
                </a:solidFill>
              </a:rPr>
              <a:t>Cumulative cost: API vs local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" y="3886200"/>
            <a:ext cx="512064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388620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" y="401421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Economic case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24128" y="4361688"/>
            <a:ext cx="47914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Zero marginal token cost after setup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Complete data sovereignty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Reduced vendor dependency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Break-even: roughly 12–18 months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446520" y="3886200"/>
            <a:ext cx="4434840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6520" y="3886200"/>
            <a:ext cx="73152" cy="1371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47688" y="401421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Hardware examples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647688" y="4361688"/>
            <a:ext cx="41056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NVIDIA GB Grace Blackwell class hardware via enterprise AI factory ecosystems.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The Hybrid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Local for scale. API for quality. Separate the decision.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429768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201168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54533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Routine 70% → Local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892808"/>
            <a:ext cx="396849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Code completion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Boilerplate specs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Constitution drafts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Internal explanation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Zero marginal cost after hardware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086600" y="1417320"/>
            <a:ext cx="4297680" cy="201168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1417320"/>
            <a:ext cx="73152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7768" y="154533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Complex 30% →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87768" y="1892808"/>
            <a:ext cx="396849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Architecture analysis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Cross-layer reasoning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Novel diagnosis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Quality-critical decisions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High-value work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303520" y="2148840"/>
            <a:ext cx="1417320" cy="502920"/>
          </a:xfrm>
          <a:prstGeom prst="rightArrow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5577840"/>
            <a:ext cx="621792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098" y="4534281"/>
            <a:ext cx="1067724" cy="1043559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5658" y="4278249"/>
            <a:ext cx="12506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08498" y="5650992"/>
            <a:ext cx="152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Pure API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5409738" y="5327386"/>
            <a:ext cx="1067724" cy="25045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8298" y="5071354"/>
            <a:ext cx="12506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120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81138" y="5650992"/>
            <a:ext cx="152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Hybrid API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7482378" y="5577840"/>
            <a:ext cx="1067724" cy="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90938" y="5321808"/>
            <a:ext cx="12506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2136"/>
                </a:solidFill>
              </a:rPr>
              <a:t>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253778" y="5650992"/>
            <a:ext cx="152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Hybrid Local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2834640" y="3703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36"/>
                </a:solidFill>
              </a:rPr>
              <a:t>Monthly team cost comparison (USD estimate)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The Accountability Matrix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No AI-generated code enters production without documented human ownership.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3596640" cy="466344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289304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Role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4236720" y="1234440"/>
            <a:ext cx="3596640" cy="466344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1584" y="1289304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SpecKit usage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7833360" y="1234440"/>
            <a:ext cx="3596640" cy="466344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88224" y="1289304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Accountability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640080" y="1700784"/>
            <a:ext cx="35966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755648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Architect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4236720" y="1700784"/>
            <a:ext cx="35966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1584" y="1755648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Constitution + boundaries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7833360" y="1700784"/>
            <a:ext cx="35966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8224" y="1755648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Architectural invariants + drift detection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640080" y="2167128"/>
            <a:ext cx="3596640" cy="466344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221992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Tech Lead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236720" y="2167128"/>
            <a:ext cx="3596640" cy="466344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1584" y="2221992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Review + approval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7833360" y="2167128"/>
            <a:ext cx="3596640" cy="466344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88224" y="2221992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Consistency + maintenance ownership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640080" y="2633472"/>
            <a:ext cx="35966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2688336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Developer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4236720" y="2633472"/>
            <a:ext cx="35966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1584" y="2688336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Feature specs + implementation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7833360" y="2633472"/>
            <a:ext cx="359664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88224" y="2688336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Spec quality + updates on change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640080" y="3099816"/>
            <a:ext cx="3596640" cy="466344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3154680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Product Owner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4236720" y="3099816"/>
            <a:ext cx="3596640" cy="466344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1584" y="3154680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Intent review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7833360" y="3099816"/>
            <a:ext cx="3596640" cy="466344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88224" y="3154680"/>
            <a:ext cx="34869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Business rule accuracy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914400" y="42062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427939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Architect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46120" y="42062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9272" y="427939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 Lead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77840" y="42062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427939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Developer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09560" y="4206240"/>
            <a:ext cx="2103120" cy="438912"/>
          </a:xfrm>
          <a:prstGeom prst="roundRect">
            <a:avLst>
              <a:gd name="adj" fmla="val 1041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82712" y="427939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Product Owner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88920" y="4315968"/>
            <a:ext cx="320040" cy="164592"/>
          </a:xfrm>
          <a:prstGeom prst="rightArrow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0" y="4315968"/>
            <a:ext cx="320040" cy="164592"/>
          </a:xfrm>
          <a:prstGeom prst="rightArrow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52360" y="4315968"/>
            <a:ext cx="320040" cy="164592"/>
          </a:xfrm>
          <a:prstGeom prst="rightArrow">
            <a:avLst/>
          </a:prstGeom>
          <a:solidFill>
            <a:srgbClr val="D6DAE5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0" y="5349240"/>
            <a:ext cx="7863840" cy="502920"/>
          </a:xfrm>
          <a:prstGeom prst="roundRect">
            <a:avLst>
              <a:gd name="adj" fmla="val 9091"/>
            </a:avLst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84832" y="5422392"/>
            <a:ext cx="7717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Every spec needs an owner. No owner = guaranteed drift.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The Maintenance Accountability Gap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AI generation velocity can outrun human review capacity.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438912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34440"/>
            <a:ext cx="73152" cy="14630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3624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Three questions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709928"/>
            <a:ext cx="40599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1. Who updates the spec?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2. What mechanism ensures they do?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3. What happens if they do not?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400800" y="3566160"/>
            <a:ext cx="420624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3469462"/>
            <a:ext cx="701040" cy="-251414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01840" y="3218048"/>
            <a:ext cx="701040" cy="-328773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02880" y="2889275"/>
            <a:ext cx="701040" cy="-406131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483145"/>
            <a:ext cx="701040" cy="-309433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04960" y="2173712"/>
            <a:ext cx="701040" cy="-309433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06000" y="1864279"/>
            <a:ext cx="701040" cy="-232075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363931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T0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845808" y="363931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T1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7546848" y="363931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T2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8247888" y="363931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T3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948928" y="363931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T4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9649968" y="363931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T5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0351008" y="3639312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T6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6400800" y="3566160"/>
            <a:ext cx="420624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469462"/>
            <a:ext cx="701040" cy="-77358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01840" y="3392104"/>
            <a:ext cx="701040" cy="-96698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02880" y="3295406"/>
            <a:ext cx="701040" cy="-116037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3179369"/>
            <a:ext cx="701040" cy="-116037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04960" y="3063331"/>
            <a:ext cx="701040" cy="-116037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06000" y="2947294"/>
            <a:ext cx="701040" cy="-116037"/>
          </a:xfrm>
          <a:prstGeom prst="line">
            <a:avLst/>
          </a:prstGeom>
          <a:noFill/>
          <a:ln w="25400">
            <a:solidFill>
              <a:srgbClr val="2D6A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0424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36"/>
                </a:solidFill>
              </a:rPr>
              <a:t>Generation velocity vs review capacity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3154680"/>
            <a:ext cx="4389120" cy="123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3154680"/>
            <a:ext cx="73152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32826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If unanswered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688" y="3630168"/>
            <a:ext cx="40599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The spec drifts. Drift misleads. The cost becomes higher than not having a spec.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2743200" y="5166360"/>
            <a:ext cx="6766560" cy="502920"/>
          </a:xfrm>
          <a:prstGeom prst="roundRect">
            <a:avLst>
              <a:gd name="adj" fmla="val 9091"/>
            </a:avLst>
          </a:prstGeom>
          <a:solidFill>
            <a:srgbClr val="182136"/>
          </a:solidFill>
          <a:ln w="12700">
            <a:solidFill>
              <a:srgbClr val="1821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16352" y="5239512"/>
            <a:ext cx="6620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This is an ownership design failure. SpecKit requires it to be solved.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Strategic Directives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Hybrid economics + ownership governance.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596640" cy="419100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2893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Priority</a:t>
            </a:r>
            <a:endParaRPr lang="en-US" sz="770" dirty="0"/>
          </a:p>
        </p:txBody>
      </p:sp>
      <p:sp>
        <p:nvSpPr>
          <p:cNvPr id="7" name="Shape 5"/>
          <p:cNvSpPr/>
          <p:nvPr/>
        </p:nvSpPr>
        <p:spPr>
          <a:xfrm>
            <a:off x="4282440" y="1234440"/>
            <a:ext cx="3596640" cy="419100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7304" y="12893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Directive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7879080" y="1234440"/>
            <a:ext cx="3596640" cy="419100"/>
          </a:xfrm>
          <a:prstGeom prst="rect">
            <a:avLst/>
          </a:prstGeom>
          <a:solidFill>
            <a:srgbClr val="1E2761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33944" y="12893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Owner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685800" y="1653540"/>
            <a:ext cx="359664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17084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1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4282440" y="1653540"/>
            <a:ext cx="359664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7304" y="17084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Evaluate local AI hardware / sovereign AI path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7879080" y="1653540"/>
            <a:ext cx="359664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33944" y="17084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Architect / CTO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685800" y="2072640"/>
            <a:ext cx="3596640" cy="41910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1275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2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282440" y="2072640"/>
            <a:ext cx="3596640" cy="41910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7304" y="21275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Author Constitution.md for active codebases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7879080" y="2072640"/>
            <a:ext cx="3596640" cy="41910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3944" y="21275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Lead Architect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685800" y="2491740"/>
            <a:ext cx="359664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25466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3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4282440" y="2491740"/>
            <a:ext cx="359664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7304" y="25466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Pilot hybrid local + API model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7879080" y="2491740"/>
            <a:ext cx="359664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33944" y="25466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Tech Lead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685800" y="2910840"/>
            <a:ext cx="3596640" cy="41910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" y="29657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4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4282440" y="2910840"/>
            <a:ext cx="3596640" cy="41910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37304" y="29657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Enforce Accountability Matrix on new repos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7879080" y="2910840"/>
            <a:ext cx="3596640" cy="419100"/>
          </a:xfrm>
          <a:prstGeom prst="rect">
            <a:avLst/>
          </a:prstGeom>
          <a:solidFill>
            <a:srgbClr val="F3F5FA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33944" y="29657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Tech Lead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685800" y="3329940"/>
            <a:ext cx="359664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33848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5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4282440" y="3329940"/>
            <a:ext cx="359664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7304" y="33848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Pilot SpecKit on greenfield work for 90 days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7879080" y="3329940"/>
            <a:ext cx="3596640" cy="4191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33944" y="3384804"/>
            <a:ext cx="348691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11827"/>
                </a:solidFill>
              </a:rPr>
              <a:t>Developer + Lead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1463040" y="434340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36192" y="4416552"/>
            <a:ext cx="2139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Tools generate.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069080" y="4343400"/>
            <a:ext cx="2560320" cy="502920"/>
          </a:xfrm>
          <a:prstGeom prst="roundRect">
            <a:avLst>
              <a:gd name="adj" fmla="val 9091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42232" y="4416552"/>
            <a:ext cx="2414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People own truth.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03720" y="4343400"/>
            <a:ext cx="27432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76872" y="4416552"/>
            <a:ext cx="2596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SpecKit preserves clarity.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794760" y="5303520"/>
            <a:ext cx="4480560" cy="502920"/>
          </a:xfrm>
          <a:prstGeom prst="roundRect">
            <a:avLst>
              <a:gd name="adj" fmla="val 9091"/>
            </a:avLst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67912" y="5376672"/>
            <a:ext cx="4334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 does not discover truth.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Appendix A — Adoption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Use a phased adoption model; avoid a big-bang rollout.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221992"/>
            <a:ext cx="1453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Constitution.md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214884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2221992"/>
            <a:ext cx="1453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 feature specs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57800" y="214884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0952" y="2221992"/>
            <a:ext cx="1453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Contract tests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0" y="214884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71232" y="2221992"/>
            <a:ext cx="1453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Spec ownership rules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738360" y="214884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11512" y="2221992"/>
            <a:ext cx="1453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Expand where drift is controlled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4754880"/>
            <a:ext cx="7498080" cy="502920"/>
          </a:xfrm>
          <a:prstGeom prst="roundRect">
            <a:avLst>
              <a:gd name="adj" fmla="val 9091"/>
            </a:avLst>
          </a:prstGeom>
          <a:solidFill>
            <a:srgbClr val="182136"/>
          </a:solidFill>
          <a:ln w="12700">
            <a:solidFill>
              <a:srgbClr val="1821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4828032"/>
            <a:ext cx="7351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 with ownership and guardrails, not broad brownfield coverage.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Appendix B — Brownfield Replacement Stack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What should sit beside SpecKit for legacy systems.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154680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73152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45389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ADRs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801368"/>
            <a:ext cx="2825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Decision history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3154680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325880"/>
            <a:ext cx="73152" cy="114300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45389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Contract tests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1801368"/>
            <a:ext cx="2825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Cross-layer boundaries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366760" y="1325880"/>
            <a:ext cx="3154680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325880"/>
            <a:ext cx="73152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7928" y="145389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Typed contracts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67928" y="1801368"/>
            <a:ext cx="2825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Pydantic / C# records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7240" y="3246120"/>
            <a:ext cx="3154680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246120"/>
            <a:ext cx="73152" cy="11430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37413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Living READMEs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8408" y="3721608"/>
            <a:ext cx="2825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Service-level truth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572000" y="3246120"/>
            <a:ext cx="3154680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246120"/>
            <a:ext cx="73152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37413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DB change ownership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73168" y="3721608"/>
            <a:ext cx="2825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Stored procedure accountability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8366760" y="3246120"/>
            <a:ext cx="3154680" cy="1143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3246120"/>
            <a:ext cx="73152" cy="1143000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67928" y="337413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Architecture checkpoints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67928" y="3721608"/>
            <a:ext cx="28254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Governance rhythm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Appendix C — Governance Questions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If the answers are unclear, SpecKit creates documentation debt.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34440"/>
            <a:ext cx="7315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36245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70992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Who owns each spec?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355080" y="123444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234440"/>
            <a:ext cx="7315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36245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6248" y="170992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Who approves changes?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77240" y="265176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651760"/>
            <a:ext cx="73152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77977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Q3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312724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Who updates specs after code changes?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355080" y="265176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651760"/>
            <a:ext cx="73152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277977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Q4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56248" y="312724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Who validates business rules?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77240" y="406908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069080"/>
            <a:ext cx="73152" cy="74980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419709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Q5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454456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Who detects drift?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355080" y="406908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069080"/>
            <a:ext cx="73152" cy="74980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419709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Q6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56248" y="454456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Who resolves conflict between code and spec?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Appendix D — Practical Guardrails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Recommended rules for disciplined adoption.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34440"/>
            <a:ext cx="73152" cy="74980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36245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Guardrail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70992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No spec without an owner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355080" y="123444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234440"/>
            <a:ext cx="73152" cy="749808"/>
          </a:xfrm>
          <a:prstGeom prst="rect">
            <a:avLst/>
          </a:prstGeom>
          <a:solidFill>
            <a:srgbClr val="2D6A2D"/>
          </a:solidFill>
          <a:ln w="12700">
            <a:solidFill>
              <a:srgbClr val="2D6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36245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Guardrail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6248" y="170992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No generated spec without review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77240" y="265176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651760"/>
            <a:ext cx="73152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77977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Guardrail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8408" y="312724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No brownfield spec marked authoritative without validation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355080" y="265176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651760"/>
            <a:ext cx="73152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277977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Guardrail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56248" y="312724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No database rule documented without SME confirmation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77240" y="406908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069080"/>
            <a:ext cx="7315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419709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Guardrail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454456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No architecture rule outside Constitution.md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355080" y="4069080"/>
            <a:ext cx="489204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069080"/>
            <a:ext cx="7315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419709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Guardrail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56248" y="4544568"/>
            <a:ext cx="456285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No feature spec without linked implementation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36"/>
                </a:solidFill>
              </a:rPr>
              <a:t>Appendix E — Suggested C-Level Message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How to position the decision.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11201400" cy="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600200"/>
            <a:ext cx="9692640" cy="96012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7592" y="1673352"/>
            <a:ext cx="95463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SpecKit should be adopted as a governance accelerator,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 as an enterprise documentation replacement.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0" y="3154680"/>
            <a:ext cx="8412480" cy="960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A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3154680"/>
            <a:ext cx="73152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328269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82136"/>
                </a:solidFill>
              </a:rPr>
              <a:t>Why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29968" y="3630168"/>
            <a:ext cx="80832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</a:rPr>
              <a:t>Its success depends less on the tool and more on ownership, review discipline, and drift control.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1234440" y="4846320"/>
            <a:ext cx="9692640" cy="685800"/>
          </a:xfrm>
          <a:prstGeom prst="roundRect">
            <a:avLst>
              <a:gd name="adj" fmla="val 6667"/>
            </a:avLst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4919472"/>
            <a:ext cx="95463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Used selectively, it improves clarity. Used broadly without accountability, it creates false confidence.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SpecKit enterprise assessment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SpecKit in Enterprise Context: Honest Evaluation</dc:title>
  <dc:subject>SpecKit in Enterprise Context</dc:subject>
  <dc:creator>OpenAI</dc:creator>
  <cp:lastModifiedBy>OpenAI</cp:lastModifiedBy>
  <cp:revision>1</cp:revision>
  <dcterms:created xsi:type="dcterms:W3CDTF">2026-05-01T13:28:13Z</dcterms:created>
  <dcterms:modified xsi:type="dcterms:W3CDTF">2026-05-01T13:28:13Z</dcterms:modified>
</cp:coreProperties>
</file>